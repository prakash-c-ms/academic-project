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8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9E2085-6124-47AD-BE66-2DC493F25733}" v="34" dt="2024-03-29T07:48:57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2889B-A0AC-4482-8592-5C96F2309420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29299-61FF-4B93-ADA6-2FD5975D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EB223-FFC0-462A-A3B8-EAA7CE0F8CBD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49E9A-41F7-4779-A581-48A7C374A2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102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278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2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118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196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181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708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27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9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8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0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F21A4-E71B-4D3A-AF45-E989C23A7BB1}" type="datetimeFigureOut">
              <a:rPr lang="en-US" smtClean="0"/>
              <a:t>3/29/2024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0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8.svg"/><Relationship Id="rId3" Type="http://schemas.openxmlformats.org/officeDocument/2006/relationships/image" Target="../media/image24.png"/><Relationship Id="rId7" Type="http://schemas.openxmlformats.org/officeDocument/2006/relationships/image" Target="../media/image23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17.svg"/><Relationship Id="rId5" Type="http://schemas.openxmlformats.org/officeDocument/2006/relationships/image" Target="../media/image26.svg"/><Relationship Id="rId10" Type="http://schemas.openxmlformats.org/officeDocument/2006/relationships/image" Target="../media/image16.png"/><Relationship Id="rId4" Type="http://schemas.openxmlformats.org/officeDocument/2006/relationships/image" Target="../media/image25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40.png"/><Relationship Id="rId7" Type="http://schemas.openxmlformats.org/officeDocument/2006/relationships/image" Target="../media/image42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.svg"/><Relationship Id="rId5" Type="http://schemas.openxmlformats.org/officeDocument/2006/relationships/image" Target="../media/image17.svg"/><Relationship Id="rId10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3" Type="http://schemas.openxmlformats.org/officeDocument/2006/relationships/image" Target="../media/image43.png"/><Relationship Id="rId7" Type="http://schemas.openxmlformats.org/officeDocument/2006/relationships/image" Target="../media/image10.sv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49.svg"/><Relationship Id="rId5" Type="http://schemas.openxmlformats.org/officeDocument/2006/relationships/image" Target="../media/image45.svg"/><Relationship Id="rId10" Type="http://schemas.openxmlformats.org/officeDocument/2006/relationships/image" Target="../media/image48.png"/><Relationship Id="rId4" Type="http://schemas.openxmlformats.org/officeDocument/2006/relationships/image" Target="../media/image44.png"/><Relationship Id="rId9" Type="http://schemas.openxmlformats.org/officeDocument/2006/relationships/image" Target="../media/image4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75" y="2501549"/>
            <a:ext cx="3581402" cy="278820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sz="4000" b="1" dirty="0">
                <a:solidFill>
                  <a:srgbClr val="FFFFFF"/>
                </a:solidFill>
              </a:rPr>
              <a:t>Schema Design for E-commerce Platform</a:t>
            </a:r>
            <a:endParaRPr lang="en-US" sz="4000" b="1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0A0AF0C0-B4EB-43EA-AC0D-0F7AC5BD76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51"/>
          <a:stretch/>
        </p:blipFill>
        <p:spPr>
          <a:xfrm>
            <a:off x="4423416" y="211248"/>
            <a:ext cx="7394958" cy="643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91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USER ENTITY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578BBB8-267D-5994-6A65-84CA406B8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88" y="375320"/>
            <a:ext cx="2975204" cy="3848658"/>
          </a:xfrm>
          <a:prstGeom prst="rect">
            <a:avLst/>
          </a:prstGeom>
        </p:spPr>
      </p:pic>
      <p:pic>
        <p:nvPicPr>
          <p:cNvPr id="15" name="Graphic 14" descr="Employee badge with solid fill">
            <a:extLst>
              <a:ext uri="{FF2B5EF4-FFF2-40B4-BE49-F238E27FC236}">
                <a16:creationId xmlns:a16="http://schemas.microsoft.com/office/drawing/2014/main" id="{A45AB4D4-698B-6BEF-44DC-3EC0E871D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1706" y="375320"/>
            <a:ext cx="1657612" cy="1657612"/>
          </a:xfrm>
          <a:prstGeom prst="rect">
            <a:avLst/>
          </a:prstGeom>
        </p:spPr>
      </p:pic>
      <p:pic>
        <p:nvPicPr>
          <p:cNvPr id="13" name="Graphic 12" descr="Target Audience with solid fill">
            <a:extLst>
              <a:ext uri="{FF2B5EF4-FFF2-40B4-BE49-F238E27FC236}">
                <a16:creationId xmlns:a16="http://schemas.microsoft.com/office/drawing/2014/main" id="{5665D3B8-1A11-6F66-4305-9DAD3FFCEE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7111" y="2424609"/>
            <a:ext cx="1799367" cy="1799367"/>
          </a:xfrm>
          <a:prstGeom prst="rect">
            <a:avLst/>
          </a:prstGeom>
        </p:spPr>
      </p:pic>
      <p:pic>
        <p:nvPicPr>
          <p:cNvPr id="41" name="Graphic 40" descr="Telephone with solid fill">
            <a:extLst>
              <a:ext uri="{FF2B5EF4-FFF2-40B4-BE49-F238E27FC236}">
                <a16:creationId xmlns:a16="http://schemas.microsoft.com/office/drawing/2014/main" id="{F7C30BAC-55CF-7ED2-4A98-0EA644DFED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076" y="4911833"/>
            <a:ext cx="1448019" cy="1448019"/>
          </a:xfrm>
          <a:prstGeom prst="rect">
            <a:avLst/>
          </a:prstGeom>
        </p:spPr>
      </p:pic>
      <p:pic>
        <p:nvPicPr>
          <p:cNvPr id="19" name="Graphic 18" descr="Address Book with solid fill">
            <a:extLst>
              <a:ext uri="{FF2B5EF4-FFF2-40B4-BE49-F238E27FC236}">
                <a16:creationId xmlns:a16="http://schemas.microsoft.com/office/drawing/2014/main" id="{5A6C7E4B-1881-B542-0153-C6F417AFF1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61748" y="4911833"/>
            <a:ext cx="1448024" cy="1448024"/>
          </a:xfrm>
          <a:prstGeom prst="rect">
            <a:avLst/>
          </a:prstGeom>
        </p:spPr>
      </p:pic>
      <p:pic>
        <p:nvPicPr>
          <p:cNvPr id="51" name="Graphic 50" descr="Email with solid fill">
            <a:extLst>
              <a:ext uri="{FF2B5EF4-FFF2-40B4-BE49-F238E27FC236}">
                <a16:creationId xmlns:a16="http://schemas.microsoft.com/office/drawing/2014/main" id="{8F0AEF42-E303-98F7-FA2D-01D3A3B0F0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00417" y="4912224"/>
            <a:ext cx="1447628" cy="1447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614868-F76F-FAC5-9932-BF8C439D1F61}"/>
              </a:ext>
            </a:extLst>
          </p:cNvPr>
          <p:cNvSpPr txBox="1"/>
          <p:nvPr/>
        </p:nvSpPr>
        <p:spPr>
          <a:xfrm>
            <a:off x="8017254" y="2274491"/>
            <a:ext cx="3336546" cy="3902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First, let's talk about the User entity. This entity stores information about the users of the platform.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 It includes attributes like </a:t>
            </a:r>
            <a:r>
              <a:rPr lang="en-US" sz="1400" dirty="0" err="1">
                <a:effectLst/>
              </a:rPr>
              <a:t>UserID</a:t>
            </a:r>
            <a:r>
              <a:rPr lang="en-US" sz="1400" dirty="0">
                <a:effectLst/>
              </a:rPr>
              <a:t>, which is a unique identifier for each user,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Username, the chosen username for the user's account,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Email, the user's email address for account-related communication,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</a:rPr>
              <a:t>Full</a:t>
            </a:r>
            <a:r>
              <a:rPr lang="en-US" sz="1400" i="1" dirty="0" err="1">
                <a:effectLst/>
              </a:rPr>
              <a:t>_Name</a:t>
            </a:r>
            <a:r>
              <a:rPr lang="en-US" sz="1400" i="1" dirty="0">
                <a:effectLst/>
              </a:rPr>
              <a:t>, the user's full name as provided during registration, and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effectLst/>
              </a:rPr>
              <a:t> Address, the user's shipping address for product delivery,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i="1" dirty="0"/>
              <a:t>Phone number for the order related communication</a:t>
            </a:r>
            <a:endParaRPr lang="en-US" sz="1400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6858001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218591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76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</a:t>
            </a:r>
            <a:r>
              <a:rPr lang="en-US" sz="3600" i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94F42-FF33-716A-921D-9E2FF2104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132" y="375320"/>
            <a:ext cx="2578916" cy="3848658"/>
          </a:xfrm>
          <a:prstGeom prst="rect">
            <a:avLst/>
          </a:prstGeom>
        </p:spPr>
      </p:pic>
      <p:pic>
        <p:nvPicPr>
          <p:cNvPr id="16" name="Graphic 15" descr="Continuous Improvement with solid fill">
            <a:extLst>
              <a:ext uri="{FF2B5EF4-FFF2-40B4-BE49-F238E27FC236}">
                <a16:creationId xmlns:a16="http://schemas.microsoft.com/office/drawing/2014/main" id="{AD8EC01E-5216-9AC2-B4BE-876C1D3B1F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1706" y="375320"/>
            <a:ext cx="1657612" cy="1657612"/>
          </a:xfrm>
          <a:prstGeom prst="rect">
            <a:avLst/>
          </a:prstGeom>
        </p:spPr>
      </p:pic>
      <p:pic>
        <p:nvPicPr>
          <p:cNvPr id="12" name="Graphic 11" descr="Kiosk with solid fill">
            <a:extLst>
              <a:ext uri="{FF2B5EF4-FFF2-40B4-BE49-F238E27FC236}">
                <a16:creationId xmlns:a16="http://schemas.microsoft.com/office/drawing/2014/main" id="{47692B00-804F-33E2-E65D-7D63BB45F9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7111" y="2424609"/>
            <a:ext cx="1799367" cy="1799367"/>
          </a:xfrm>
          <a:prstGeom prst="rect">
            <a:avLst/>
          </a:prstGeom>
        </p:spPr>
      </p:pic>
      <p:pic>
        <p:nvPicPr>
          <p:cNvPr id="6" name="Graphic 5" descr="Shopping cart with solid fill">
            <a:extLst>
              <a:ext uri="{FF2B5EF4-FFF2-40B4-BE49-F238E27FC236}">
                <a16:creationId xmlns:a16="http://schemas.microsoft.com/office/drawing/2014/main" id="{B6DC0B7F-2B68-3238-7D29-8DF28DAEC8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076" y="4911833"/>
            <a:ext cx="1448019" cy="1448019"/>
          </a:xfrm>
          <a:prstGeom prst="rect">
            <a:avLst/>
          </a:prstGeom>
        </p:spPr>
      </p:pic>
      <p:pic>
        <p:nvPicPr>
          <p:cNvPr id="8" name="Graphic 7" descr="Grocery bag with solid fill">
            <a:extLst>
              <a:ext uri="{FF2B5EF4-FFF2-40B4-BE49-F238E27FC236}">
                <a16:creationId xmlns:a16="http://schemas.microsoft.com/office/drawing/2014/main" id="{A608ABCE-0FE8-B0C2-DF2C-C2B539E4F7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61748" y="4911833"/>
            <a:ext cx="1448024" cy="1448024"/>
          </a:xfrm>
          <a:prstGeom prst="rect">
            <a:avLst/>
          </a:prstGeom>
        </p:spPr>
      </p:pic>
      <p:pic>
        <p:nvPicPr>
          <p:cNvPr id="18" name="Graphic 17" descr="Search Inventory with solid fill">
            <a:extLst>
              <a:ext uri="{FF2B5EF4-FFF2-40B4-BE49-F238E27FC236}">
                <a16:creationId xmlns:a16="http://schemas.microsoft.com/office/drawing/2014/main" id="{C066F296-9F66-AB69-C368-825453BEAC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00417" y="4912224"/>
            <a:ext cx="1447628" cy="1447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614868-F76F-FAC5-9932-BF8C439D1F61}"/>
              </a:ext>
            </a:extLst>
          </p:cNvPr>
          <p:cNvSpPr txBox="1"/>
          <p:nvPr/>
        </p:nvSpPr>
        <p:spPr>
          <a:xfrm>
            <a:off x="8017254" y="2274491"/>
            <a:ext cx="3336546" cy="3902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we have the Product entity. This entity holds information about the products available on the platform.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It includes attributes like ProductID, a unique identifier for each product,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Product Name the name of the product,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Product Description a brief description of the product's features and specifications,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Price, the price of the product,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Category, the category to which the product belongs, and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SellerID, a reference to the seller of the product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Available QTY – the Available product quantity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6858001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218591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965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ORDER ENTITY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F8BFA-C0AE-7413-3AA5-24918654F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79" y="375320"/>
            <a:ext cx="3146622" cy="3848658"/>
          </a:xfrm>
          <a:prstGeom prst="rect">
            <a:avLst/>
          </a:prstGeom>
        </p:spPr>
      </p:pic>
      <p:pic>
        <p:nvPicPr>
          <p:cNvPr id="9" name="Graphic 8" descr="Monthly calendar with solid fill">
            <a:extLst>
              <a:ext uri="{FF2B5EF4-FFF2-40B4-BE49-F238E27FC236}">
                <a16:creationId xmlns:a16="http://schemas.microsoft.com/office/drawing/2014/main" id="{B34E036D-DAEF-F40A-70C2-438F364F94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1706" y="375320"/>
            <a:ext cx="1657612" cy="1657612"/>
          </a:xfrm>
          <a:prstGeom prst="rect">
            <a:avLst/>
          </a:prstGeom>
        </p:spPr>
      </p:pic>
      <p:pic>
        <p:nvPicPr>
          <p:cNvPr id="18" name="Graphic 17" descr="Search Inventory with solid fill">
            <a:extLst>
              <a:ext uri="{FF2B5EF4-FFF2-40B4-BE49-F238E27FC236}">
                <a16:creationId xmlns:a16="http://schemas.microsoft.com/office/drawing/2014/main" id="{C066F296-9F66-AB69-C368-825453BEAC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7111" y="2424609"/>
            <a:ext cx="1799367" cy="1799367"/>
          </a:xfrm>
          <a:prstGeom prst="rect">
            <a:avLst/>
          </a:prstGeom>
        </p:spPr>
      </p:pic>
      <p:pic>
        <p:nvPicPr>
          <p:cNvPr id="8" name="Graphic 7" descr="Grocery bag with solid fill">
            <a:extLst>
              <a:ext uri="{FF2B5EF4-FFF2-40B4-BE49-F238E27FC236}">
                <a16:creationId xmlns:a16="http://schemas.microsoft.com/office/drawing/2014/main" id="{A608ABCE-0FE8-B0C2-DF2C-C2B539E4F7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076" y="4911833"/>
            <a:ext cx="1448019" cy="1448019"/>
          </a:xfrm>
          <a:prstGeom prst="rect">
            <a:avLst/>
          </a:prstGeom>
        </p:spPr>
      </p:pic>
      <p:pic>
        <p:nvPicPr>
          <p:cNvPr id="12" name="Graphic 11" descr="Kiosk with solid fill">
            <a:extLst>
              <a:ext uri="{FF2B5EF4-FFF2-40B4-BE49-F238E27FC236}">
                <a16:creationId xmlns:a16="http://schemas.microsoft.com/office/drawing/2014/main" id="{47692B00-804F-33E2-E65D-7D63BB45F9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61748" y="4911833"/>
            <a:ext cx="1448024" cy="1448024"/>
          </a:xfrm>
          <a:prstGeom prst="rect">
            <a:avLst/>
          </a:prstGeom>
        </p:spPr>
      </p:pic>
      <p:pic>
        <p:nvPicPr>
          <p:cNvPr id="15" name="Graphic 14" descr="Ecommerce with solid fill">
            <a:extLst>
              <a:ext uri="{FF2B5EF4-FFF2-40B4-BE49-F238E27FC236}">
                <a16:creationId xmlns:a16="http://schemas.microsoft.com/office/drawing/2014/main" id="{8808493F-7447-B19C-A461-6396821778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00417" y="4912224"/>
            <a:ext cx="1447628" cy="1447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614868-F76F-FAC5-9932-BF8C439D1F61}"/>
              </a:ext>
            </a:extLst>
          </p:cNvPr>
          <p:cNvSpPr txBox="1"/>
          <p:nvPr/>
        </p:nvSpPr>
        <p:spPr>
          <a:xfrm>
            <a:off x="8017254" y="2274491"/>
            <a:ext cx="3336546" cy="3902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This entity captures details about the orders placed by users.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It includes attributes like </a:t>
            </a:r>
            <a:r>
              <a:rPr lang="en-US" sz="1700" dirty="0" err="1"/>
              <a:t>OrderID</a:t>
            </a:r>
            <a:r>
              <a:rPr lang="en-US" sz="1700" dirty="0"/>
              <a:t>, a unique identifier for each order,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UserID</a:t>
            </a:r>
            <a:r>
              <a:rPr lang="en-US" sz="1700" dirty="0"/>
              <a:t>, a reference to the user who placed the order,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ProductID</a:t>
            </a:r>
            <a:r>
              <a:rPr lang="en-US" sz="1700" dirty="0"/>
              <a:t>, a reference to the product included in the order,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Quantity, the quantity of the product ordered, and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Order_Date</a:t>
            </a:r>
            <a:r>
              <a:rPr lang="en-US" sz="1700" dirty="0"/>
              <a:t>, the date and time when the order was placed."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6858001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218591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60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PAYMENT ENTITY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F1B226-C893-251B-0BCF-27E707076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30" y="375320"/>
            <a:ext cx="3831320" cy="3848658"/>
          </a:xfrm>
          <a:prstGeom prst="rect">
            <a:avLst/>
          </a:prstGeom>
        </p:spPr>
      </p:pic>
      <p:pic>
        <p:nvPicPr>
          <p:cNvPr id="16" name="Graphic 15" descr="Bank check with solid fill">
            <a:extLst>
              <a:ext uri="{FF2B5EF4-FFF2-40B4-BE49-F238E27FC236}">
                <a16:creationId xmlns:a16="http://schemas.microsoft.com/office/drawing/2014/main" id="{FC6CAFF5-59BC-A24C-8672-9815B9E48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1706" y="375320"/>
            <a:ext cx="1657612" cy="1657612"/>
          </a:xfrm>
          <a:prstGeom prst="rect">
            <a:avLst/>
          </a:prstGeom>
        </p:spPr>
      </p:pic>
      <p:pic>
        <p:nvPicPr>
          <p:cNvPr id="13" name="Graphic 12" descr="Transfer1 with solid fill">
            <a:extLst>
              <a:ext uri="{FF2B5EF4-FFF2-40B4-BE49-F238E27FC236}">
                <a16:creationId xmlns:a16="http://schemas.microsoft.com/office/drawing/2014/main" id="{2BC891C4-1B65-68D9-52A9-1FC0D59A53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7111" y="2424609"/>
            <a:ext cx="1799367" cy="1799367"/>
          </a:xfrm>
          <a:prstGeom prst="rect">
            <a:avLst/>
          </a:prstGeom>
        </p:spPr>
      </p:pic>
      <p:pic>
        <p:nvPicPr>
          <p:cNvPr id="4" name="Graphic 3" descr="Credit card with solid fill">
            <a:extLst>
              <a:ext uri="{FF2B5EF4-FFF2-40B4-BE49-F238E27FC236}">
                <a16:creationId xmlns:a16="http://schemas.microsoft.com/office/drawing/2014/main" id="{9E9E4698-86B6-446C-DCAA-A6AF8810BD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076" y="4911833"/>
            <a:ext cx="1448019" cy="1448019"/>
          </a:xfrm>
          <a:prstGeom prst="rect">
            <a:avLst/>
          </a:prstGeom>
        </p:spPr>
      </p:pic>
      <p:pic>
        <p:nvPicPr>
          <p:cNvPr id="7" name="Graphic 6" descr="Internet Banking with solid fill">
            <a:extLst>
              <a:ext uri="{FF2B5EF4-FFF2-40B4-BE49-F238E27FC236}">
                <a16:creationId xmlns:a16="http://schemas.microsoft.com/office/drawing/2014/main" id="{BEF45A33-B6BB-459E-F45D-AF07550BAC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61748" y="4911833"/>
            <a:ext cx="1448024" cy="1448024"/>
          </a:xfrm>
          <a:prstGeom prst="rect">
            <a:avLst/>
          </a:prstGeom>
        </p:spPr>
      </p:pic>
      <p:pic>
        <p:nvPicPr>
          <p:cNvPr id="19" name="Graphic 18" descr="Flying Money with solid fill">
            <a:extLst>
              <a:ext uri="{FF2B5EF4-FFF2-40B4-BE49-F238E27FC236}">
                <a16:creationId xmlns:a16="http://schemas.microsoft.com/office/drawing/2014/main" id="{A0B4ED3E-94E1-2E8F-63A6-B5AC64B9DB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00417" y="4912224"/>
            <a:ext cx="1447628" cy="1447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614868-F76F-FAC5-9932-BF8C439D1F61}"/>
              </a:ext>
            </a:extLst>
          </p:cNvPr>
          <p:cNvSpPr txBox="1"/>
          <p:nvPr/>
        </p:nvSpPr>
        <p:spPr>
          <a:xfrm>
            <a:off x="8017254" y="2274491"/>
            <a:ext cx="3336546" cy="3902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This entity records information about the payment transactions.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It includes attributes like </a:t>
            </a:r>
            <a:r>
              <a:rPr lang="en-US" sz="1900" dirty="0" err="1"/>
              <a:t>PaymentID</a:t>
            </a:r>
            <a:r>
              <a:rPr lang="en-US" sz="1900" dirty="0"/>
              <a:t>, a unique identifier for each payment transaction,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OrderID</a:t>
            </a:r>
            <a:r>
              <a:rPr lang="en-US" sz="1900" dirty="0"/>
              <a:t>, a reference to the order for which the payment was made,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Amount, the total amount paid for the order, and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Payment_Method</a:t>
            </a:r>
            <a:r>
              <a:rPr lang="en-US" sz="1900" dirty="0"/>
              <a:t>, the method used for payment"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6858001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218591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752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SELLER ENTITY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160D9F-6C8C-DF21-9EF2-2AA61A75D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59" y="375320"/>
            <a:ext cx="3701262" cy="3848658"/>
          </a:xfrm>
          <a:prstGeom prst="rect">
            <a:avLst/>
          </a:prstGeom>
        </p:spPr>
      </p:pic>
      <p:pic>
        <p:nvPicPr>
          <p:cNvPr id="14" name="Graphic 13" descr="Kiosk with solid fill">
            <a:extLst>
              <a:ext uri="{FF2B5EF4-FFF2-40B4-BE49-F238E27FC236}">
                <a16:creationId xmlns:a16="http://schemas.microsoft.com/office/drawing/2014/main" id="{A318C297-F248-1C73-8BF5-4701CAEA0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91706" y="375320"/>
            <a:ext cx="1657612" cy="1657612"/>
          </a:xfrm>
          <a:prstGeom prst="rect">
            <a:avLst/>
          </a:prstGeom>
        </p:spPr>
      </p:pic>
      <p:pic>
        <p:nvPicPr>
          <p:cNvPr id="10" name="Graphic 9" descr="Route (Two Pins With A Path) with solid fill">
            <a:extLst>
              <a:ext uri="{FF2B5EF4-FFF2-40B4-BE49-F238E27FC236}">
                <a16:creationId xmlns:a16="http://schemas.microsoft.com/office/drawing/2014/main" id="{D8B861E2-74E6-C05C-C7D6-D29D5AA1E5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317111" y="2424609"/>
            <a:ext cx="1799367" cy="1799367"/>
          </a:xfrm>
          <a:prstGeom prst="rect">
            <a:avLst/>
          </a:prstGeom>
        </p:spPr>
      </p:pic>
      <p:pic>
        <p:nvPicPr>
          <p:cNvPr id="5" name="Graphic 4" descr="Address Book with solid fill">
            <a:extLst>
              <a:ext uri="{FF2B5EF4-FFF2-40B4-BE49-F238E27FC236}">
                <a16:creationId xmlns:a16="http://schemas.microsoft.com/office/drawing/2014/main" id="{D0D5B737-FA86-4539-5444-D95A685E1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507076" y="4911833"/>
            <a:ext cx="1448019" cy="1448019"/>
          </a:xfrm>
          <a:prstGeom prst="rect">
            <a:avLst/>
          </a:prstGeom>
        </p:spPr>
      </p:pic>
      <p:pic>
        <p:nvPicPr>
          <p:cNvPr id="8" name="Graphic 7" descr="Employee badge with solid fill">
            <a:extLst>
              <a:ext uri="{FF2B5EF4-FFF2-40B4-BE49-F238E27FC236}">
                <a16:creationId xmlns:a16="http://schemas.microsoft.com/office/drawing/2014/main" id="{3BD85DD5-B4F1-98C1-20DA-F3D25E46CF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2761748" y="4911833"/>
            <a:ext cx="1448024" cy="1448024"/>
          </a:xfrm>
          <a:prstGeom prst="rect">
            <a:avLst/>
          </a:prstGeom>
        </p:spPr>
      </p:pic>
      <p:pic>
        <p:nvPicPr>
          <p:cNvPr id="15" name="Graphic 14" descr="Email with solid fill">
            <a:extLst>
              <a:ext uri="{FF2B5EF4-FFF2-40B4-BE49-F238E27FC236}">
                <a16:creationId xmlns:a16="http://schemas.microsoft.com/office/drawing/2014/main" id="{0C9B8E07-D693-0282-43E0-955B279CEC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00417" y="4912224"/>
            <a:ext cx="1447628" cy="1447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614868-F76F-FAC5-9932-BF8C439D1F61}"/>
              </a:ext>
            </a:extLst>
          </p:cNvPr>
          <p:cNvSpPr txBox="1"/>
          <p:nvPr/>
        </p:nvSpPr>
        <p:spPr>
          <a:xfrm>
            <a:off x="8017254" y="2274491"/>
            <a:ext cx="3336546" cy="3902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entity stores information about the sellers or brands on the platform.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includes attributes like </a:t>
            </a:r>
            <a:r>
              <a:rPr lang="en-US" sz="2000" dirty="0" err="1"/>
              <a:t>SellerID</a:t>
            </a:r>
            <a:r>
              <a:rPr lang="en-US" sz="2000" dirty="0"/>
              <a:t>, a unique identifier for each seller,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Seller_Name</a:t>
            </a:r>
            <a:r>
              <a:rPr lang="en-US" sz="2000" dirty="0"/>
              <a:t>, the name of the seller or brand,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Contact_Info</a:t>
            </a:r>
            <a:r>
              <a:rPr lang="en-US" sz="2000" dirty="0"/>
              <a:t>, contact information for the seller, and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Location, the geographical location of the seller."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6858001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218591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29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REVIEW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ENTITY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DC977-FC37-0315-4A0F-AB8590A44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29" y="375320"/>
            <a:ext cx="3314122" cy="3848658"/>
          </a:xfrm>
          <a:prstGeom prst="rect">
            <a:avLst/>
          </a:prstGeom>
        </p:spPr>
      </p:pic>
      <p:pic>
        <p:nvPicPr>
          <p:cNvPr id="13" name="Graphic 12" descr="Rating 3 Star with solid fill">
            <a:extLst>
              <a:ext uri="{FF2B5EF4-FFF2-40B4-BE49-F238E27FC236}">
                <a16:creationId xmlns:a16="http://schemas.microsoft.com/office/drawing/2014/main" id="{4B8DA49B-E039-0B5E-A255-DA0B776D7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1706" y="375320"/>
            <a:ext cx="1657612" cy="1657612"/>
          </a:xfrm>
          <a:prstGeom prst="rect">
            <a:avLst/>
          </a:prstGeom>
        </p:spPr>
      </p:pic>
      <p:pic>
        <p:nvPicPr>
          <p:cNvPr id="5" name="Graphic 4" descr="Address Book with solid fill">
            <a:extLst>
              <a:ext uri="{FF2B5EF4-FFF2-40B4-BE49-F238E27FC236}">
                <a16:creationId xmlns:a16="http://schemas.microsoft.com/office/drawing/2014/main" id="{D0D5B737-FA86-4539-5444-D95A685E1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317111" y="2424609"/>
            <a:ext cx="1799367" cy="1799367"/>
          </a:xfrm>
          <a:prstGeom prst="rect">
            <a:avLst/>
          </a:prstGeom>
        </p:spPr>
      </p:pic>
      <p:pic>
        <p:nvPicPr>
          <p:cNvPr id="20" name="Graphic 19" descr="Comment Like with solid fill">
            <a:extLst>
              <a:ext uri="{FF2B5EF4-FFF2-40B4-BE49-F238E27FC236}">
                <a16:creationId xmlns:a16="http://schemas.microsoft.com/office/drawing/2014/main" id="{B23155CB-8DC2-30F5-1702-CF3EDE1888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076" y="4911833"/>
            <a:ext cx="1448019" cy="1448019"/>
          </a:xfrm>
          <a:prstGeom prst="rect">
            <a:avLst/>
          </a:prstGeom>
        </p:spPr>
      </p:pic>
      <p:pic>
        <p:nvPicPr>
          <p:cNvPr id="17" name="Graphic 16" descr="Comment Add with solid fill">
            <a:extLst>
              <a:ext uri="{FF2B5EF4-FFF2-40B4-BE49-F238E27FC236}">
                <a16:creationId xmlns:a16="http://schemas.microsoft.com/office/drawing/2014/main" id="{44482CBD-0875-45E2-A55E-380129AE0B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61748" y="4911833"/>
            <a:ext cx="1448024" cy="1448024"/>
          </a:xfrm>
          <a:prstGeom prst="rect">
            <a:avLst/>
          </a:prstGeom>
        </p:spPr>
      </p:pic>
      <p:pic>
        <p:nvPicPr>
          <p:cNvPr id="22" name="Graphic 21" descr="Comment Heart with solid fill">
            <a:extLst>
              <a:ext uri="{FF2B5EF4-FFF2-40B4-BE49-F238E27FC236}">
                <a16:creationId xmlns:a16="http://schemas.microsoft.com/office/drawing/2014/main" id="{E02B32CD-2A18-7C96-4DB1-1ADB4CFFA5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00417" y="4912224"/>
            <a:ext cx="1447628" cy="1447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614868-F76F-FAC5-9932-BF8C439D1F61}"/>
              </a:ext>
            </a:extLst>
          </p:cNvPr>
          <p:cNvSpPr txBox="1"/>
          <p:nvPr/>
        </p:nvSpPr>
        <p:spPr>
          <a:xfrm>
            <a:off x="8017254" y="2274491"/>
            <a:ext cx="3336546" cy="3902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This entity holds information about the reviews posted by users.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It includes attributes like ReviewID, a unique identifier for each review,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UserID, a reference to the user who posted the review,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ProductID, a reference to the product being reviewed,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Rating, the rating given by the user for the product, and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Comment, the user's comments or feedback about the product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6858001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218591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566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63F6E9-D6CE-8ED7-C517-4C59F4B1277E}"/>
              </a:ext>
            </a:extLst>
          </p:cNvPr>
          <p:cNvSpPr txBox="1"/>
          <p:nvPr/>
        </p:nvSpPr>
        <p:spPr>
          <a:xfrm>
            <a:off x="151972" y="449038"/>
            <a:ext cx="4606841" cy="5384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RELATIONSHIPS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 discuss how these entities are connected to each other, forming the backbone of our e-commerce database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dirty="0"/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 **User and Order**: The '</a:t>
            </a:r>
            <a:r>
              <a:rPr lang="en-US" sz="1200" dirty="0" err="1"/>
              <a:t>UserID</a:t>
            </a:r>
            <a:r>
              <a:rPr lang="en-US" sz="1200" dirty="0"/>
              <a:t>' in the Order entity is a foreign key that references the '</a:t>
            </a:r>
            <a:r>
              <a:rPr lang="en-US" sz="1200" dirty="0" err="1"/>
              <a:t>UserID</a:t>
            </a:r>
            <a:r>
              <a:rPr lang="en-US" sz="1200" dirty="0"/>
              <a:t>' in the User entity. This relationship indicates which user placed each order.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**Order and Product**: The '</a:t>
            </a:r>
            <a:r>
              <a:rPr lang="en-US" sz="1200" dirty="0" err="1"/>
              <a:t>ProductID</a:t>
            </a:r>
            <a:r>
              <a:rPr lang="en-US" sz="1200" dirty="0"/>
              <a:t>' in the Order entity is a foreign key that references the '</a:t>
            </a:r>
            <a:r>
              <a:rPr lang="en-US" sz="1200" dirty="0" err="1"/>
              <a:t>ProductID</a:t>
            </a:r>
            <a:r>
              <a:rPr lang="en-US" sz="1200" dirty="0"/>
              <a:t>' in the Product entity. This relationship shows which product is included in each order.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**Order and Payment**: The '</a:t>
            </a:r>
            <a:r>
              <a:rPr lang="en-US" sz="1200" dirty="0" err="1"/>
              <a:t>OrderID</a:t>
            </a:r>
            <a:r>
              <a:rPr lang="en-US" sz="1200" dirty="0"/>
              <a:t>' in the Payment entity is a foreign key that references the '</a:t>
            </a:r>
            <a:r>
              <a:rPr lang="en-US" sz="1200" dirty="0" err="1"/>
              <a:t>OrderID</a:t>
            </a:r>
            <a:r>
              <a:rPr lang="en-US" sz="1200" dirty="0"/>
              <a:t>' in the Order entity. This relationship links each payment transaction to its corresponding order.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**Product and Seller**: The '</a:t>
            </a:r>
            <a:r>
              <a:rPr lang="en-US" sz="1200" dirty="0" err="1"/>
              <a:t>SellerID</a:t>
            </a:r>
            <a:r>
              <a:rPr lang="en-US" sz="1200" dirty="0"/>
              <a:t>' in the Product entity is a foreign key that references the '</a:t>
            </a:r>
            <a:r>
              <a:rPr lang="en-US" sz="1200" dirty="0" err="1"/>
              <a:t>SellerID</a:t>
            </a:r>
            <a:r>
              <a:rPr lang="en-US" sz="1200" dirty="0"/>
              <a:t>' in the Seller entity. This relationship identifies the seller of each product.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**User and Review**: The '</a:t>
            </a:r>
            <a:r>
              <a:rPr lang="en-US" sz="1200" dirty="0" err="1"/>
              <a:t>UserID</a:t>
            </a:r>
            <a:r>
              <a:rPr lang="en-US" sz="1200" dirty="0"/>
              <a:t>' in the Review entity is a foreign key that references the '</a:t>
            </a:r>
            <a:r>
              <a:rPr lang="en-US" sz="1200" dirty="0" err="1"/>
              <a:t>UserID</a:t>
            </a:r>
            <a:r>
              <a:rPr lang="en-US" sz="1200" dirty="0"/>
              <a:t>' in the User entity. This relationship shows which user posted each review.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 **Product and Review**: The '</a:t>
            </a:r>
            <a:r>
              <a:rPr lang="en-US" sz="1200" dirty="0" err="1"/>
              <a:t>ProductID</a:t>
            </a:r>
            <a:r>
              <a:rPr lang="en-US" sz="1200" dirty="0"/>
              <a:t>' in the Review entity is a foreign key that references the '</a:t>
            </a:r>
            <a:r>
              <a:rPr lang="en-US" sz="1200" dirty="0" err="1"/>
              <a:t>ProductID</a:t>
            </a:r>
            <a:r>
              <a:rPr lang="en-US" sz="1200" dirty="0"/>
              <a:t>' in the Product entity. This relationship links each review to the product it pertains to.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These relationships allow us to track and manage the flow of data across different aspects of the e-commerce platform, from user registration to order placement and product reviews."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91B16FC-AF4D-210F-8465-231F322E6A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51"/>
          <a:stretch/>
        </p:blipFill>
        <p:spPr>
          <a:xfrm>
            <a:off x="4901808" y="262675"/>
            <a:ext cx="7138220" cy="652975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2245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3B71DBD2-3B77-4A79-B20B-A2B1EBBE1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D94CD5A-DFA9-4697-95A8-A758FBF5E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22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gold and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95465CF0-9744-DABB-F0C3-550C2E899A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8" r="5965" b="-1"/>
          <a:stretch/>
        </p:blipFill>
        <p:spPr>
          <a:xfrm>
            <a:off x="643468" y="643467"/>
            <a:ext cx="5372099" cy="5571066"/>
          </a:xfrm>
          <a:prstGeom prst="rect">
            <a:avLst/>
          </a:prstGeom>
        </p:spPr>
      </p:pic>
      <p:pic>
        <p:nvPicPr>
          <p:cNvPr id="5" name="Picture 4" descr="Tying a bow in an arrangment of presents">
            <a:extLst>
              <a:ext uri="{FF2B5EF4-FFF2-40B4-BE49-F238E27FC236}">
                <a16:creationId xmlns:a16="http://schemas.microsoft.com/office/drawing/2014/main" id="{1376DA0C-76A1-343C-3F06-E269ED2FC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798" r="16834" b="-2"/>
          <a:stretch/>
        </p:blipFill>
        <p:spPr>
          <a:xfrm>
            <a:off x="6176432" y="643467"/>
            <a:ext cx="537210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01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781794_win32_fixed.potx" id="{FFA6945E-0D2E-49A3-B8AE-0157B47B7617}" vid="{3D53E5D5-FE42-40E3-89B4-70F55FAC32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6836EB9DEACF4CA376318A4C13576F" ma:contentTypeVersion="4" ma:contentTypeDescription="Create a new document." ma:contentTypeScope="" ma:versionID="cac22811092cc2973a420436cee1285c">
  <xsd:schema xmlns:xsd="http://www.w3.org/2001/XMLSchema" xmlns:xs="http://www.w3.org/2001/XMLSchema" xmlns:p="http://schemas.microsoft.com/office/2006/metadata/properties" xmlns:ns3="27288bf1-3ba3-4f58-8257-790afbcbff5a" targetNamespace="http://schemas.microsoft.com/office/2006/metadata/properties" ma:root="true" ma:fieldsID="280d991177cdf72e2388c820f1b4e221" ns3:_="">
    <xsd:import namespace="27288bf1-3ba3-4f58-8257-790afbcbff5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88bf1-3ba3-4f58-8257-790afbcbff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2D0AB8-E21B-4D63-9C16-9B67E65ED8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288bf1-3ba3-4f58-8257-790afbcbff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8560D5-EADD-48C4-92DF-13B1D6DAD1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F90E4B-5553-41BC-945F-A858B999AFBB}">
  <ds:schemaRefs>
    <ds:schemaRef ds:uri="27288bf1-3ba3-4f58-8257-790afbcbff5a"/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Research presentation</Template>
  <TotalTime>782</TotalTime>
  <Words>725</Words>
  <Application>Microsoft Office PowerPoint</Application>
  <PresentationFormat>Widescreen</PresentationFormat>
  <Paragraphs>62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Schema Design for E-commerce Platform</vt:lpstr>
      <vt:lpstr> USER ENTITY</vt:lpstr>
      <vt:lpstr>PRODUCT ENTITY</vt:lpstr>
      <vt:lpstr>ORDER ENTITY</vt:lpstr>
      <vt:lpstr>PAYMENT ENTITY</vt:lpstr>
      <vt:lpstr>SELLER ENTITY</vt:lpstr>
      <vt:lpstr>REVIEW ENTITY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Schema Design for E-commerce Platform</dc:title>
  <dc:creator>prakash c</dc:creator>
  <cp:lastModifiedBy>prakash c</cp:lastModifiedBy>
  <cp:revision>2</cp:revision>
  <dcterms:created xsi:type="dcterms:W3CDTF">2024-03-28T18:44:32Z</dcterms:created>
  <dcterms:modified xsi:type="dcterms:W3CDTF">2024-03-29T07:48:57Z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2024-03-28T18:46:07Z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8b36e01f-1889-46fb-817b-fb8525309b48</vt:lpwstr>
  </property>
  <property fmtid="{D5CDD505-2E9C-101B-9397-08002B2CF9AE}" pid="7" name="MSIP_Label_defa4170-0d19-0005-0004-bc88714345d2_ActionId">
    <vt:lpwstr>5a55b8ce-c1ee-4bb2-a0d8-a1ef65aaf4e9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0x010100086836EB9DEACF4CA376318A4C13576F</vt:lpwstr>
  </property>
</Properties>
</file>